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8" r:id="rId3"/>
    <p:sldId id="269" r:id="rId4"/>
    <p:sldId id="270" r:id="rId5"/>
    <p:sldId id="274" r:id="rId6"/>
    <p:sldId id="271" r:id="rId7"/>
    <p:sldId id="275" r:id="rId8"/>
    <p:sldId id="276" r:id="rId9"/>
    <p:sldId id="277" r:id="rId10"/>
    <p:sldId id="278" r:id="rId11"/>
    <p:sldId id="273" r:id="rId12"/>
    <p:sldId id="266" r:id="rId13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700"/>
    <a:srgbClr val="FFCE65"/>
    <a:srgbClr val="C08500"/>
    <a:srgbClr val="3D615E"/>
    <a:srgbClr val="4A7672"/>
    <a:srgbClr val="92BBB7"/>
    <a:srgbClr val="AC7700"/>
    <a:srgbClr val="FF562F"/>
    <a:srgbClr val="FF3809"/>
    <a:srgbClr val="FF5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1"/>
  </p:normalViewPr>
  <p:slideViewPr>
    <p:cSldViewPr snapToGrid="0">
      <p:cViewPr>
        <p:scale>
          <a:sx n="75" d="100"/>
          <a:sy n="75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D25A9A-4588-F950-15AF-937F795ACB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0F4C0-E091-A02A-D498-287575D9B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042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 b="1">
                <a:solidFill>
                  <a:srgbClr val="3D615E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2FF636-EAE4-BB90-6DAC-F208C86AC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9351"/>
            <a:ext cx="9144000" cy="77086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C085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49DEA6-0D43-EAA5-9772-F327A165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7A9CA-7EE9-FDBD-18C5-789F9522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AED3E4-7070-60FA-BE9D-154D14E4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8529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E9FD6-471F-7AB8-0AE8-82B25BB8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885101-1B29-3AD7-901C-A00DD8333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C61163-4E90-987D-5F9C-A480D6C7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52BA18-474E-BCBB-034E-7865B7F1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824B9E-A8C2-3562-1A8F-0E5346A1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0694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0D2A3-3F6C-6939-2878-0EAE4B28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DBBCE6-69E4-A973-E95E-6D82130EF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8DE9A9-84C5-5FDB-6F71-1926140C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F8C557-803E-78D5-67EE-C47E8DE4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05E29A-7F00-A7F2-D3FD-72C6846F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8305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7ACDF-AABE-1E29-7CA1-4181F465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AE7B99-9866-765E-51B5-A160D072F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EFC735-9C92-33C4-CB27-28192C19E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90C563-D8D3-4A61-99B0-76291131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BEDDF3-CE4A-ED6D-97BA-DDD50E33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E49543-9736-8E7D-49C9-CBF2EE07A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2893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07B37-EFC5-016D-E633-F8D4145F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A2552-4E03-4F13-C57D-18353449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6F37C0-B8A2-5FDB-65F3-3037643D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8CC84B-14B8-6224-6865-B54FC32FA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11F1BB-5D1D-7C41-A3F9-0BE3649AE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135937-DE84-D594-266C-F2327F92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EA01070-3C01-F0D8-1B99-1C82E27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4BB968-51C7-D0F3-E8DF-4896C9D7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1334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A0F14-3B6F-2216-BD66-A58F4558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D3BED4-F4B4-CAC5-B220-9109229C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348B434-CAEE-C91F-E1F7-28A555C2D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B469EE-F053-0AD2-2716-97837215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4385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DE3E20-4CBE-56E2-4155-AD03116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546CAF5-BC96-9D37-926C-697F710E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A3200E-13FF-E654-CF5E-6D4DBE598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840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62C23-9938-47AC-347B-2F955301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010739-720D-60CE-4B14-8ED9E1E49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5B897A-A13E-BEB4-72C0-7707CB072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9837B4-C988-E07B-E3F4-89FDB12E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A46F2C-43D2-F901-6E8E-DCEF6436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6B9DB4-8B25-ADC6-8FA0-9A7DB73F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5580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4C891-7065-88A8-43A8-96D9D020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24D8D8-539A-706E-339B-4A981AF18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242E42-4474-8264-6B5C-77BE8C768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F29A36-0C66-5B35-424B-99AE8898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B1A4CB-776E-ECA2-15C5-5421DDB86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A049A5-218E-4FD0-D648-9991B861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49376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B08A7-43AF-E76D-8BA8-85829519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56426A-677C-E18E-047B-E1407D838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81C7E2-0ECF-266C-6645-666A7DDF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B63812-BBDB-1132-77E9-18DCB926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2A74AB-F6B9-D610-E9B2-186A78AB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542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9FCF4AF-A827-0D51-17F4-89774A9D5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0E2A35-41BA-F516-C251-EA551E2F2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9872F5-BC5D-D839-E315-5CFB72BE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C74A1E-333E-7E3C-F452-D7D94E36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7CA703-AD0A-1741-02BC-3F9D5CE42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3167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F4D78A-B50F-94B9-8230-DEB2A9DF2F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EFCD6-5BC6-6749-8FAA-9E8DA50E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69D9BB-4AD5-71FB-6382-1AF1D448F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608568-69F3-FE8F-4490-7FEA50825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71D1A-1E00-4F00-9601-127C15B7BBB5}" type="datetimeFigureOut">
              <a:rPr lang="ru-UA" smtClean="0"/>
              <a:t>11/27/2025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196CBD-027C-1CAC-0387-63E908E5D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EFBBCB-ABF7-6E53-505E-FC5EDC84A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E06B0-1090-416B-897D-0C6E44530F4B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9215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56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5357D-3478-C9AF-8D7E-8BD5F0210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7774"/>
            <a:ext cx="9144000" cy="1083743"/>
          </a:xfrm>
        </p:spPr>
        <p:txBody>
          <a:bodyPr>
            <a:normAutofit fontScale="90000"/>
          </a:bodyPr>
          <a:lstStyle/>
          <a:p>
            <a:r>
              <a:rPr lang="ru-RU" dirty="0"/>
              <a:t>Кофейное колесо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6EE6F3-AB0C-8A42-00A7-EA29CE07A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6598" y="2819529"/>
            <a:ext cx="5358804" cy="882188"/>
          </a:xfrm>
        </p:spPr>
        <p:txBody>
          <a:bodyPr>
            <a:normAutofit fontScale="92500" lnSpcReduction="20000"/>
          </a:bodyPr>
          <a:lstStyle/>
          <a:p>
            <a:r>
              <a:rPr lang="ru-RU" b="0" dirty="0"/>
              <a:t>Если ты не можешь выбрать — мы выберем за тебя. И да, мы учли, что ты ненавидишь корицу.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3381A9-79D0-BE1E-01A2-CFA01C12F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4448"/>
            <a:ext cx="3268709" cy="327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6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B24CC-4DAC-F09E-C97F-55A9CAA8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12751"/>
            <a:ext cx="10034016" cy="738554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AEDC9-B1D1-5586-18BA-C0FE49E7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305"/>
            <a:ext cx="10515600" cy="4351338"/>
          </a:xfrm>
        </p:spPr>
        <p:txBody>
          <a:bodyPr/>
          <a:lstStyle/>
          <a:p>
            <a:r>
              <a:rPr lang="ru-RU" dirty="0"/>
              <a:t>Сейчас клиенты в кофейнях чаще всего заказывают одни и те же напитки. Это удобно, но не создаёт повторного интереса. Можно предложить альтернативу: клиент нажимает пару кнопку — и получает случайный напиток из меню. Заказ составляется на предпочтениях и отсутствия аллергий у клиента. Это добавляет элемент неожиданности и мотивирует вернуться снова.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740270E-C70F-774B-B543-87603BD85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" y="3675888"/>
            <a:ext cx="3182112" cy="318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45DD06-8FAF-AA40-CFF5-54779AE47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4" t="14609" r="9501"/>
          <a:stretch>
            <a:fillRect/>
          </a:stretch>
        </p:blipFill>
        <p:spPr>
          <a:xfrm>
            <a:off x="9153496" y="3547872"/>
            <a:ext cx="3038504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92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83CAE-0E3A-9E7B-602D-3ED1BF29A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767"/>
            <a:ext cx="10515600" cy="5499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Цель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2BE29A-E2D0-5AC0-330F-4C20C36FC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676"/>
            <a:ext cx="10811608" cy="542003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Сделать заказ кофе проще и интереснее – так, чтобы клиенту не пришлось каждый раз думать, что выбрать.</a:t>
            </a:r>
          </a:p>
          <a:p>
            <a:pPr>
              <a:lnSpc>
                <a:spcPct val="110000"/>
              </a:lnSpc>
            </a:pPr>
            <a:r>
              <a:rPr lang="ru-RU" dirty="0"/>
              <a:t>Пройти анкету – какие напитки нравятся, какие нет, есть ли аллергии.</a:t>
            </a:r>
          </a:p>
          <a:p>
            <a:pPr>
              <a:lnSpc>
                <a:spcPct val="110000"/>
              </a:lnSpc>
            </a:pPr>
            <a:r>
              <a:rPr lang="ru-RU" dirty="0"/>
              <a:t>После этого – просто нажать кнопку “Кофейное колесо” и получить случайный, но подходящий под твой вкус напиток.</a:t>
            </a:r>
          </a:p>
          <a:p>
            <a:pPr>
              <a:lnSpc>
                <a:spcPct val="110000"/>
              </a:lnSpc>
            </a:pPr>
            <a:r>
              <a:rPr lang="ru-RU" dirty="0"/>
              <a:t>Если хочешь – можно быстро переключиться на обычный режим, если вдруг захотелось что-то другое.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ru-RU" dirty="0"/>
            </a:br>
            <a:r>
              <a:rPr lang="ru-RU" dirty="0"/>
              <a:t>Так у клиента будет удобство + элемент сюрприза + гарантия, что ничего не будет против его вкуса или здоровья.</a:t>
            </a:r>
            <a:br>
              <a:rPr lang="ru-RU" dirty="0"/>
            </a:br>
            <a:r>
              <a:rPr lang="ru-RU" dirty="0"/>
              <a:t>А значит – он вернётся снова, потому что уже знает, что здесь ему будут делать то, что ему действительно понравится.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140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4036B-7336-FA88-185D-B8CA211B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4592"/>
            <a:ext cx="10515600" cy="5499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Анализ рынка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C74EA-D4D9-D06D-7054-BE70DB5AB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ru-RU" dirty="0"/>
              <a:t>Программы лояльности — работают, но не создают эмоционального отклика.</a:t>
            </a:r>
          </a:p>
          <a:p>
            <a:r>
              <a:rPr lang="ru-RU" dirty="0"/>
              <a:t>“Кофе по настроению” — требует активного выбора, утомляет.</a:t>
            </a:r>
          </a:p>
          <a:p>
            <a:r>
              <a:rPr lang="ru-RU" dirty="0"/>
              <a:t>QR-меню — удобно, но не мотивирует на повторные визиты.</a:t>
            </a:r>
          </a:p>
          <a:p>
            <a:r>
              <a:rPr lang="ru-RU" dirty="0"/>
              <a:t>Временные акции — дают кратковременный эффект, но не системны.</a:t>
            </a:r>
          </a:p>
          <a:p>
            <a:r>
              <a:rPr lang="ru-RU" dirty="0"/>
              <a:t>Решение — это постоянная механика, встроенная в приложение, с физическим элементом в заказе, что повышает запоминаемость и вовлечённость.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1555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B20A0-6C6E-8552-CDCB-9CC71A262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317501"/>
            <a:ext cx="10515600" cy="549996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Архитектура и 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467890-4145-DCE9-A0A7-71B4C836E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292" y="1077840"/>
            <a:ext cx="10515600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600" dirty="0"/>
              <a:t>Full-Stack </a:t>
            </a:r>
            <a:r>
              <a:rPr lang="ru-RU" sz="2600" dirty="0"/>
              <a:t>решение на </a:t>
            </a:r>
            <a:r>
              <a:rPr lang="en-US" sz="2600" dirty="0"/>
              <a:t>Flutter</a:t>
            </a:r>
            <a:endParaRPr lang="ru-RU" sz="2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600" dirty="0"/>
              <a:t>Архитектура: Локальное </a:t>
            </a:r>
            <a:r>
              <a:rPr lang="en-US" sz="2600" dirty="0"/>
              <a:t>full-stack </a:t>
            </a:r>
            <a:r>
              <a:rPr lang="ru-RU" sz="2600" dirty="0"/>
              <a:t>приложение.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600" dirty="0"/>
              <a:t>Frontend: Flutter (UI, </a:t>
            </a:r>
            <a:r>
              <a:rPr lang="ru-RU" sz="2600" dirty="0"/>
              <a:t>навигация, состояние).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600" dirty="0"/>
              <a:t>Backend &amp; </a:t>
            </a:r>
            <a:r>
              <a:rPr lang="ru-RU" sz="2600" dirty="0"/>
              <a:t>Бизнес-логика: </a:t>
            </a:r>
            <a:r>
              <a:rPr lang="en-US" sz="2600" dirty="0"/>
              <a:t>Flutter.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600" dirty="0"/>
              <a:t>База данных: </a:t>
            </a:r>
            <a:r>
              <a:rPr lang="en-US" sz="2600" dirty="0"/>
              <a:t>SQLite </a:t>
            </a:r>
            <a:r>
              <a:rPr lang="ru-RU" sz="2600" dirty="0"/>
              <a:t>с использованием пакета </a:t>
            </a:r>
            <a:r>
              <a:rPr lang="en-US" sz="2600" dirty="0" err="1"/>
              <a:t>sqflite</a:t>
            </a:r>
            <a:r>
              <a:rPr lang="en-US" sz="26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600" dirty="0"/>
              <a:t>Хранение данных: Локальное на устройстве пользователя.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600" dirty="0"/>
              <a:t>Ключевые пакеты: </a:t>
            </a:r>
            <a:r>
              <a:rPr lang="en-US" sz="2600" dirty="0" err="1"/>
              <a:t>sqflite</a:t>
            </a:r>
            <a:r>
              <a:rPr lang="en-US" sz="2600" dirty="0"/>
              <a:t>, provider (</a:t>
            </a:r>
            <a:r>
              <a:rPr lang="ru-RU" sz="2600" dirty="0"/>
              <a:t>для состояния).</a:t>
            </a:r>
          </a:p>
        </p:txBody>
      </p:sp>
    </p:spTree>
    <p:extLst>
      <p:ext uri="{BB962C8B-B14F-4D97-AF65-F5344CB8AC3E}">
        <p14:creationId xmlns:p14="http://schemas.microsoft.com/office/powerpoint/2010/main" val="250439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0A9C3-85E4-341C-2716-9ECD1EB2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84864"/>
            <a:ext cx="10515600" cy="5499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Основная функция — «Крутите барабан»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610CCF-C24A-B816-148A-88146E4A1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ru-RU" dirty="0"/>
              <a:t>«Кофейное колесо» подбирает варианты персонально для вас. Чтобы оно заработало, нужно сначала пройти небольшую анкету – это обязательный этап, без которого не обойтись.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C7A383-35E5-96BF-44E1-618C708AF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5472"/>
            <a:ext cx="3462528" cy="346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4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912B0-21FD-895C-C93A-DB08A531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Модульная структура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AC7040-F3B8-42C4-0FD1-6805E417F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52"/>
            <a:ext cx="10515600" cy="4537870"/>
          </a:xfrm>
        </p:spPr>
        <p:txBody>
          <a:bodyPr/>
          <a:lstStyle/>
          <a:p>
            <a:pPr marL="0">
              <a:lnSpc>
                <a:spcPct val="150000"/>
              </a:lnSpc>
              <a:spcBef>
                <a:spcPts val="0"/>
              </a:spcBef>
            </a:pPr>
            <a:r>
              <a:rPr lang="en-US" dirty="0" err="1"/>
              <a:t>AuthService</a:t>
            </a:r>
            <a:r>
              <a:rPr lang="en-US" dirty="0"/>
              <a:t>: </a:t>
            </a:r>
            <a:r>
              <a:rPr lang="ru-RU" dirty="0"/>
              <a:t>Управление пользователями и аутентификацией.</a:t>
            </a:r>
          </a:p>
          <a:p>
            <a:pPr marL="0">
              <a:lnSpc>
                <a:spcPct val="150000"/>
              </a:lnSpc>
              <a:spcBef>
                <a:spcPts val="0"/>
              </a:spcBef>
            </a:pPr>
            <a:r>
              <a:rPr lang="en-US" dirty="0" err="1"/>
              <a:t>DrinkService</a:t>
            </a:r>
            <a:r>
              <a:rPr lang="en-US" dirty="0"/>
              <a:t>: </a:t>
            </a:r>
            <a:r>
              <a:rPr lang="ru-RU" dirty="0"/>
              <a:t>Работа с напитками, фильтрация и поиск.</a:t>
            </a:r>
          </a:p>
          <a:p>
            <a:pPr marL="0">
              <a:lnSpc>
                <a:spcPct val="150000"/>
              </a:lnSpc>
              <a:spcBef>
                <a:spcPts val="0"/>
              </a:spcBef>
            </a:pPr>
            <a:r>
              <a:rPr lang="en-US" dirty="0" err="1"/>
              <a:t>OrderService</a:t>
            </a:r>
            <a:r>
              <a:rPr lang="en-US" dirty="0"/>
              <a:t>: </a:t>
            </a:r>
            <a:r>
              <a:rPr lang="ru-RU" dirty="0"/>
              <a:t>Управление заказами и корзиной.</a:t>
            </a:r>
          </a:p>
          <a:p>
            <a:pPr marL="0">
              <a:lnSpc>
                <a:spcPct val="150000"/>
              </a:lnSpc>
              <a:spcBef>
                <a:spcPts val="0"/>
              </a:spcBef>
            </a:pPr>
            <a:r>
              <a:rPr lang="en-US" dirty="0" err="1"/>
              <a:t>PaymentService</a:t>
            </a:r>
            <a:r>
              <a:rPr lang="en-US" dirty="0"/>
              <a:t>: </a:t>
            </a:r>
            <a:r>
              <a:rPr lang="ru-RU" dirty="0"/>
              <a:t>Демо-режим обработки платежей.</a:t>
            </a:r>
          </a:p>
          <a:p>
            <a:pPr marL="0">
              <a:lnSpc>
                <a:spcPct val="150000"/>
              </a:lnSpc>
              <a:spcBef>
                <a:spcPts val="0"/>
              </a:spcBef>
            </a:pPr>
            <a:r>
              <a:rPr lang="en-US" dirty="0" err="1"/>
              <a:t>DatabaseService</a:t>
            </a:r>
            <a:r>
              <a:rPr lang="en-US" dirty="0"/>
              <a:t>: </a:t>
            </a:r>
            <a:r>
              <a:rPr lang="ru-RU" dirty="0"/>
              <a:t>Абстракция для работы с </a:t>
            </a:r>
            <a:r>
              <a:rPr lang="en-US" dirty="0"/>
              <a:t>SQLite.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21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6B7F22-4E85-A4F1-CD0B-924CEFEB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448818"/>
            <a:ext cx="10515600" cy="5499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Бизнес-логика: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0291E3-EE74-1D08-7879-EB6BF03AF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37" y="1361799"/>
            <a:ext cx="10515600" cy="4351338"/>
          </a:xfrm>
        </p:spPr>
        <p:txBody>
          <a:bodyPr/>
          <a:lstStyle/>
          <a:p>
            <a:r>
              <a:rPr lang="ru-RU" dirty="0"/>
              <a:t>Система рекомендаций: Подбор напитков на основе </a:t>
            </a:r>
            <a:r>
              <a:rPr lang="ru-RU" dirty="0" err="1"/>
              <a:t>user_preferences</a:t>
            </a:r>
            <a:r>
              <a:rPr lang="ru-RU" dirty="0"/>
              <a:t> и истории заказов.</a:t>
            </a:r>
          </a:p>
          <a:p>
            <a:r>
              <a:rPr lang="ru-RU" dirty="0"/>
              <a:t>Управление заказами: Полный цикл от корзины до создания заказа.</a:t>
            </a:r>
          </a:p>
        </p:txBody>
      </p:sp>
    </p:spTree>
    <p:extLst>
      <p:ext uri="{BB962C8B-B14F-4D97-AF65-F5344CB8AC3E}">
        <p14:creationId xmlns:p14="http://schemas.microsoft.com/office/powerpoint/2010/main" val="79182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76F9CB-84C5-E1D3-F413-97CF2505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7" y="356053"/>
            <a:ext cx="10515600" cy="5499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Структура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F031F-AACF-2E84-222D-82D832FFF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37" y="1123261"/>
            <a:ext cx="10515600" cy="4351338"/>
          </a:xfrm>
        </p:spPr>
        <p:txBody>
          <a:bodyPr/>
          <a:lstStyle/>
          <a:p>
            <a:r>
              <a:rPr lang="en-US" dirty="0"/>
              <a:t>users (id, name, email, password, </a:t>
            </a:r>
            <a:r>
              <a:rPr lang="en-US" dirty="0" err="1"/>
              <a:t>created_at</a:t>
            </a:r>
            <a:r>
              <a:rPr lang="en-US" dirty="0"/>
              <a:t>)</a:t>
            </a:r>
          </a:p>
          <a:p>
            <a:r>
              <a:rPr lang="en-US" dirty="0"/>
              <a:t>drinks (id, name, category, description, characteristics(JSON), price)</a:t>
            </a:r>
          </a:p>
          <a:p>
            <a:r>
              <a:rPr lang="en-US" dirty="0" err="1"/>
              <a:t>user_preferences</a:t>
            </a:r>
            <a:r>
              <a:rPr lang="en-US" dirty="0"/>
              <a:t> (id, 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preference_type</a:t>
            </a:r>
            <a:r>
              <a:rPr lang="en-US" dirty="0"/>
              <a:t>, </a:t>
            </a:r>
            <a:r>
              <a:rPr lang="en-US" dirty="0" err="1"/>
              <a:t>preference_value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/>
              <a:t>cart (</a:t>
            </a:r>
            <a:r>
              <a:rPr lang="ru-RU" dirty="0"/>
              <a:t>Товары, добавленные в корзину)</a:t>
            </a:r>
          </a:p>
        </p:txBody>
      </p:sp>
    </p:spTree>
    <p:extLst>
      <p:ext uri="{BB962C8B-B14F-4D97-AF65-F5344CB8AC3E}">
        <p14:creationId xmlns:p14="http://schemas.microsoft.com/office/powerpoint/2010/main" val="100692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366AD-25DF-6381-CD4E-FC7707E2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872" y="406039"/>
            <a:ext cx="10515600" cy="5499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Пользовательский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EA8F1C-A638-7B6A-B690-4C4D2C6ED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872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Экран авторизации: Регистрация, вход, восстановление пароля.</a:t>
            </a:r>
          </a:p>
          <a:p>
            <a:r>
              <a:rPr lang="ru-RU" sz="3000" dirty="0" err="1">
                <a:latin typeface="+mj-lt"/>
              </a:rPr>
              <a:t>AnketaScreen</a:t>
            </a:r>
            <a:r>
              <a:rPr lang="ru-RU" sz="3000" dirty="0">
                <a:latin typeface="+mj-lt"/>
              </a:rPr>
              <a:t>: Анкета предпочтений (крепость, тип молока, уровень сахара и т.д.).</a:t>
            </a:r>
          </a:p>
          <a:p>
            <a:r>
              <a:rPr lang="ru-RU" sz="3000" dirty="0" err="1">
                <a:latin typeface="+mj-lt"/>
              </a:rPr>
              <a:t>DrinksScreen</a:t>
            </a:r>
            <a:r>
              <a:rPr lang="ru-RU" sz="3000" dirty="0">
                <a:latin typeface="+mj-lt"/>
              </a:rPr>
              <a:t>: Главный экран с фильтрацией, поиском и переключением режимов.</a:t>
            </a:r>
          </a:p>
          <a:p>
            <a:r>
              <a:rPr lang="ru-RU" sz="3000" dirty="0" err="1">
                <a:latin typeface="+mj-lt"/>
              </a:rPr>
              <a:t>CoffeeWheelScreen</a:t>
            </a:r>
            <a:r>
              <a:rPr lang="ru-RU" sz="3000" dirty="0">
                <a:latin typeface="+mj-lt"/>
              </a:rPr>
              <a:t>: Интерактивный подбор случайного напитка на основе предпочтений.</a:t>
            </a:r>
          </a:p>
          <a:p>
            <a:r>
              <a:rPr lang="ru-RU" sz="3000" dirty="0" err="1">
                <a:latin typeface="+mj-lt"/>
              </a:rPr>
              <a:t>CartScreen</a:t>
            </a:r>
            <a:r>
              <a:rPr lang="ru-RU" sz="3000" dirty="0">
                <a:latin typeface="+mj-lt"/>
              </a:rPr>
              <a:t> &amp; </a:t>
            </a:r>
            <a:r>
              <a:rPr lang="ru-RU" sz="3000" dirty="0" err="1">
                <a:latin typeface="+mj-lt"/>
              </a:rPr>
              <a:t>PaymentScreen</a:t>
            </a:r>
            <a:r>
              <a:rPr lang="ru-RU" sz="3000" dirty="0">
                <a:latin typeface="+mj-lt"/>
              </a:rPr>
              <a:t>: Корзина и демо-оплата.</a:t>
            </a:r>
          </a:p>
          <a:p>
            <a:r>
              <a:rPr lang="ru-RU" sz="3000" dirty="0" err="1">
                <a:latin typeface="+mj-lt"/>
              </a:rPr>
              <a:t>OrderHistoryScreen</a:t>
            </a:r>
            <a:r>
              <a:rPr lang="ru-RU" sz="3000" dirty="0">
                <a:latin typeface="+mj-lt"/>
              </a:rPr>
              <a:t> &amp; Личный кабинет: История заказов и настройки профиля.</a:t>
            </a:r>
          </a:p>
        </p:txBody>
      </p:sp>
    </p:spTree>
    <p:extLst>
      <p:ext uri="{BB962C8B-B14F-4D97-AF65-F5344CB8AC3E}">
        <p14:creationId xmlns:p14="http://schemas.microsoft.com/office/powerpoint/2010/main" val="342147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07926-2B7E-45E8-4D87-1C26883E4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263"/>
            <a:ext cx="10515600" cy="5499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FD440F-26FD-3ECF-479D-08CEA652B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259"/>
            <a:ext cx="10515600" cy="4351338"/>
          </a:xfrm>
        </p:spPr>
        <p:txBody>
          <a:bodyPr/>
          <a:lstStyle/>
          <a:p>
            <a:r>
              <a:rPr lang="ru-RU" dirty="0"/>
              <a:t>“Кофейное колесо” — это инструмент для повышения лояльности и среднего чека через игровую механику и физический сюрприз. Он не заменяет меню, а дополняет его — давая клиенту альтернативу “заказать как всегда”. Это не эксперимент, а повторяемая система, которая работает за счёт простоты, вовлечённости и социального эффекта.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BEE7F2-7A4E-CDF5-AC41-943CA3C00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902" y="3230880"/>
            <a:ext cx="2825207" cy="28224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5743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1600BC-78E3-64FD-873E-BEFF9E01E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4957" y="986705"/>
            <a:ext cx="5871328" cy="2076365"/>
          </a:xfrm>
        </p:spPr>
        <p:txBody>
          <a:bodyPr>
            <a:normAutofit/>
          </a:bodyPr>
          <a:lstStyle/>
          <a:p>
            <a:r>
              <a:rPr lang="ru-RU" sz="5400" dirty="0"/>
              <a:t>Спасибо </a:t>
            </a:r>
          </a:p>
          <a:p>
            <a:r>
              <a:rPr lang="ru-RU" sz="5400" dirty="0"/>
              <a:t>за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477727-F235-F08E-0C94-C6DA359DC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4496"/>
            <a:ext cx="414337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289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620</Words>
  <Application>Microsoft Office PowerPoint</Application>
  <PresentationFormat>Широкоэкранный</PresentationFormat>
  <Paragraphs>51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Тема Office</vt:lpstr>
      <vt:lpstr>Кофейное колесо</vt:lpstr>
      <vt:lpstr>Введение</vt:lpstr>
      <vt:lpstr>Цель </vt:lpstr>
      <vt:lpstr>Анализ рынка</vt:lpstr>
      <vt:lpstr>Архитектура и технологический стек</vt:lpstr>
      <vt:lpstr>Основная функция — «Крутите барабан»</vt:lpstr>
      <vt:lpstr>Модульная структура приложения</vt:lpstr>
      <vt:lpstr>Бизнес-логика:</vt:lpstr>
      <vt:lpstr>Структура базы данных</vt:lpstr>
      <vt:lpstr>Пользовательский интерфейс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Марина Маркасьян</dc:creator>
  <cp:lastModifiedBy>Шлома Виктория</cp:lastModifiedBy>
  <cp:revision>20</cp:revision>
  <dcterms:created xsi:type="dcterms:W3CDTF">2023-02-11T08:11:06Z</dcterms:created>
  <dcterms:modified xsi:type="dcterms:W3CDTF">2025-11-27T20:36:48Z</dcterms:modified>
</cp:coreProperties>
</file>